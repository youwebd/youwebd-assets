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59985" cy="10691988"/>
  <p:notesSz cx="10691988" cy="755998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"/>
          <p:cNvSpPr/>
          <p:nvPr/>
        </p:nvSpPr>
        <p:spPr>
          <a:xfrm>
            <a:off x="6227564" y="575965"/>
            <a:ext cx="684312" cy="238571"/>
          </a:xfrm>
          <a:prstGeom prst="roundRect">
            <a:avLst>
              <a:gd name="adj" fmla="val 500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" name="text-2"/>
          <p:cNvSpPr txBox="1"/>
          <p:nvPr/>
        </p:nvSpPr>
        <p:spPr>
          <a:xfrm>
            <a:off x="6332339" y="633115"/>
            <a:ext cx="53185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25" spc="99" kern="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</a:t>
            </a:r>
            <a:endParaRPr lang="ko-KR" sz="825" dirty="0"/>
          </a:p>
        </p:txBody>
      </p:sp>
      <p:pic>
        <p:nvPicPr>
          <p:cNvPr id="4" name="img-3" descr="유웹디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75965"/>
            <a:ext cx="419100" cy="4191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1181398" y="688628"/>
            <a:ext cx="4849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75" b="1" spc="26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275" dirty="0"/>
          </a:p>
        </p:txBody>
      </p:sp>
      <p:sp>
        <p:nvSpPr>
          <p:cNvPr id="6" name="text-5"/>
          <p:cNvSpPr txBox="1"/>
          <p:nvPr/>
        </p:nvSpPr>
        <p:spPr>
          <a:xfrm>
            <a:off x="647998" y="1261765"/>
            <a:ext cx="157182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550" b="1" spc="765" kern="0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 적 서</a:t>
            </a:r>
            <a:endParaRPr lang="ko-KR" sz="2550" dirty="0"/>
          </a:p>
        </p:txBody>
      </p:sp>
      <p:sp>
        <p:nvSpPr>
          <p:cNvPr id="7" name="text-6"/>
          <p:cNvSpPr txBox="1"/>
          <p:nvPr/>
        </p:nvSpPr>
        <p:spPr>
          <a:xfrm>
            <a:off x="647998" y="1782663"/>
            <a:ext cx="266767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75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제작 견적 · 견적번호 YWD-SAMPLE-001</a:t>
            </a:r>
            <a:endParaRPr lang="ko-KR" sz="975" dirty="0"/>
          </a:p>
        </p:txBody>
      </p:sp>
      <p:sp>
        <p:nvSpPr>
          <p:cNvPr id="8" name="box-7"/>
          <p:cNvSpPr/>
          <p:nvPr/>
        </p:nvSpPr>
        <p:spPr>
          <a:xfrm>
            <a:off x="647998" y="2222153"/>
            <a:ext cx="3055739" cy="1536204"/>
          </a:xfrm>
          <a:prstGeom prst="roundRect">
            <a:avLst>
              <a:gd name="adj" fmla="val 62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9" name="text-8"/>
          <p:cNvSpPr txBox="1"/>
          <p:nvPr/>
        </p:nvSpPr>
        <p:spPr>
          <a:xfrm>
            <a:off x="828973" y="2403128"/>
            <a:ext cx="26748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90" kern="0" dirty="0">
                <a:solidFill>
                  <a:srgbClr val="5B62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수신</a:t>
            </a:r>
            <a:endParaRPr lang="ko-KR" sz="900" dirty="0"/>
          </a:p>
        </p:txBody>
      </p:sp>
      <p:sp>
        <p:nvSpPr>
          <p:cNvPr id="10" name="text-9"/>
          <p:cNvSpPr txBox="1"/>
          <p:nvPr/>
        </p:nvSpPr>
        <p:spPr>
          <a:xfrm>
            <a:off x="828973" y="2675483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</a:t>
            </a:r>
            <a:endParaRPr lang="ko-KR" sz="1013" dirty="0"/>
          </a:p>
        </p:txBody>
      </p:sp>
      <p:sp>
        <p:nvSpPr>
          <p:cNvPr id="11" name="text-10"/>
          <p:cNvSpPr txBox="1"/>
          <p:nvPr/>
        </p:nvSpPr>
        <p:spPr>
          <a:xfrm>
            <a:off x="1610023" y="2675483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하루건축</a:t>
            </a:r>
            <a:endParaRPr lang="ko-KR" sz="1013" dirty="0"/>
          </a:p>
        </p:txBody>
      </p:sp>
      <p:sp>
        <p:nvSpPr>
          <p:cNvPr id="12" name="text-11"/>
          <p:cNvSpPr txBox="1"/>
          <p:nvPr/>
        </p:nvSpPr>
        <p:spPr>
          <a:xfrm>
            <a:off x="2086719" y="2675483"/>
            <a:ext cx="269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귀하</a:t>
            </a:r>
            <a:endParaRPr lang="ko-KR" sz="1013" dirty="0"/>
          </a:p>
        </p:txBody>
      </p:sp>
      <p:sp>
        <p:nvSpPr>
          <p:cNvPr id="13" name="text-12"/>
          <p:cNvSpPr txBox="1"/>
          <p:nvPr/>
        </p:nvSpPr>
        <p:spPr>
          <a:xfrm>
            <a:off x="828973" y="2922389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endParaRPr lang="ko-KR" sz="1013" dirty="0"/>
          </a:p>
        </p:txBody>
      </p:sp>
      <p:sp>
        <p:nvSpPr>
          <p:cNvPr id="14" name="text-13"/>
          <p:cNvSpPr txBox="1"/>
          <p:nvPr/>
        </p:nvSpPr>
        <p:spPr>
          <a:xfrm>
            <a:off x="1610023" y="2922389"/>
            <a:ext cx="12610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하루건축 홈페이지 제작</a:t>
            </a:r>
            <a:endParaRPr lang="ko-KR" sz="1013" dirty="0"/>
          </a:p>
        </p:txBody>
      </p:sp>
      <p:sp>
        <p:nvSpPr>
          <p:cNvPr id="15" name="text-14"/>
          <p:cNvSpPr txBox="1"/>
          <p:nvPr/>
        </p:nvSpPr>
        <p:spPr>
          <a:xfrm>
            <a:off x="828973" y="3169295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견적일</a:t>
            </a:r>
            <a:endParaRPr lang="ko-KR" sz="1013" dirty="0"/>
          </a:p>
        </p:txBody>
      </p:sp>
      <p:sp>
        <p:nvSpPr>
          <p:cNvPr id="16" name="text-15"/>
          <p:cNvSpPr txBox="1"/>
          <p:nvPr/>
        </p:nvSpPr>
        <p:spPr>
          <a:xfrm>
            <a:off x="1610023" y="3169295"/>
            <a:ext cx="9901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 8일</a:t>
            </a:r>
            <a:endParaRPr lang="ko-KR" sz="1013" dirty="0"/>
          </a:p>
        </p:txBody>
      </p:sp>
      <p:sp>
        <p:nvSpPr>
          <p:cNvPr id="17" name="text-16"/>
          <p:cNvSpPr txBox="1"/>
          <p:nvPr/>
        </p:nvSpPr>
        <p:spPr>
          <a:xfrm>
            <a:off x="828973" y="3416201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ko-KR" sz="1013" dirty="0"/>
          </a:p>
        </p:txBody>
      </p:sp>
      <p:sp>
        <p:nvSpPr>
          <p:cNvPr id="18" name="text-17"/>
          <p:cNvSpPr txBox="1"/>
          <p:nvPr/>
        </p:nvSpPr>
        <p:spPr>
          <a:xfrm>
            <a:off x="1610023" y="3416201"/>
            <a:ext cx="102281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견적일로부터 14일</a:t>
            </a:r>
            <a:endParaRPr lang="ko-KR" sz="1013" dirty="0"/>
          </a:p>
        </p:txBody>
      </p:sp>
      <p:sp>
        <p:nvSpPr>
          <p:cNvPr id="19" name="box-18"/>
          <p:cNvSpPr/>
          <p:nvPr/>
        </p:nvSpPr>
        <p:spPr>
          <a:xfrm>
            <a:off x="3856137" y="2222153"/>
            <a:ext cx="3055739" cy="1536204"/>
          </a:xfrm>
          <a:prstGeom prst="roundRect">
            <a:avLst>
              <a:gd name="adj" fmla="val 62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20" name="text-19"/>
          <p:cNvSpPr txBox="1"/>
          <p:nvPr/>
        </p:nvSpPr>
        <p:spPr>
          <a:xfrm>
            <a:off x="4037112" y="2403128"/>
            <a:ext cx="38202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90" kern="0" dirty="0">
                <a:solidFill>
                  <a:srgbClr val="5B62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공급자</a:t>
            </a:r>
            <a:endParaRPr lang="ko-KR" sz="900" dirty="0"/>
          </a:p>
        </p:txBody>
      </p:sp>
      <p:sp>
        <p:nvSpPr>
          <p:cNvPr id="21" name="text-20"/>
          <p:cNvSpPr txBox="1"/>
          <p:nvPr/>
        </p:nvSpPr>
        <p:spPr>
          <a:xfrm>
            <a:off x="4037112" y="2675483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</a:t>
            </a:r>
            <a:endParaRPr lang="ko-KR" sz="1013" dirty="0"/>
          </a:p>
        </p:txBody>
      </p:sp>
      <p:sp>
        <p:nvSpPr>
          <p:cNvPr id="22" name="text-21"/>
          <p:cNvSpPr txBox="1"/>
          <p:nvPr/>
        </p:nvSpPr>
        <p:spPr>
          <a:xfrm>
            <a:off x="4818162" y="2675483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013" dirty="0"/>
          </a:p>
        </p:txBody>
      </p:sp>
      <p:sp>
        <p:nvSpPr>
          <p:cNvPr id="23" name="text-22"/>
          <p:cNvSpPr txBox="1"/>
          <p:nvPr/>
        </p:nvSpPr>
        <p:spPr>
          <a:xfrm>
            <a:off x="4037112" y="2922389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ko-KR" sz="1013" dirty="0"/>
          </a:p>
        </p:txBody>
      </p:sp>
      <p:sp>
        <p:nvSpPr>
          <p:cNvPr id="24" name="text-23"/>
          <p:cNvSpPr txBox="1"/>
          <p:nvPr/>
        </p:nvSpPr>
        <p:spPr>
          <a:xfrm>
            <a:off x="4818162" y="2922389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장영주</a:t>
            </a:r>
            <a:endParaRPr lang="ko-KR" sz="1013" dirty="0"/>
          </a:p>
        </p:txBody>
      </p:sp>
      <p:sp>
        <p:nvSpPr>
          <p:cNvPr id="25" name="text-24"/>
          <p:cNvSpPr txBox="1"/>
          <p:nvPr/>
        </p:nvSpPr>
        <p:spPr>
          <a:xfrm>
            <a:off x="4037112" y="3169295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013" dirty="0"/>
          </a:p>
        </p:txBody>
      </p:sp>
      <p:sp>
        <p:nvSpPr>
          <p:cNvPr id="26" name="text-25"/>
          <p:cNvSpPr txBox="1"/>
          <p:nvPr/>
        </p:nvSpPr>
        <p:spPr>
          <a:xfrm>
            <a:off x="4818162" y="3169295"/>
            <a:ext cx="135219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youweb.d@gmail.com</a:t>
            </a:r>
            <a:endParaRPr lang="ko-KR" sz="1013" dirty="0"/>
          </a:p>
        </p:txBody>
      </p:sp>
      <p:sp>
        <p:nvSpPr>
          <p:cNvPr id="27" name="text-26"/>
          <p:cNvSpPr txBox="1"/>
          <p:nvPr/>
        </p:nvSpPr>
        <p:spPr>
          <a:xfrm>
            <a:off x="4037112" y="3416201"/>
            <a:ext cx="6160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</a:t>
            </a:r>
            <a:endParaRPr lang="ko-KR" sz="1013" dirty="0"/>
          </a:p>
        </p:txBody>
      </p:sp>
      <p:sp>
        <p:nvSpPr>
          <p:cNvPr id="28" name="text-27"/>
          <p:cNvSpPr txBox="1"/>
          <p:nvPr/>
        </p:nvSpPr>
        <p:spPr>
          <a:xfrm>
            <a:off x="4818162" y="3416201"/>
            <a:ext cx="96090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452-64-00805</a:t>
            </a:r>
            <a:endParaRPr lang="ko-KR" sz="1013" dirty="0"/>
          </a:p>
        </p:txBody>
      </p:sp>
      <p:sp>
        <p:nvSpPr>
          <p:cNvPr id="29" name="box-28"/>
          <p:cNvSpPr/>
          <p:nvPr/>
        </p:nvSpPr>
        <p:spPr>
          <a:xfrm>
            <a:off x="647998" y="3910757"/>
            <a:ext cx="6263878" cy="756196"/>
          </a:xfrm>
          <a:prstGeom prst="roundRect">
            <a:avLst>
              <a:gd name="adj" fmla="val 12596"/>
            </a:avLst>
          </a:prstGeom>
          <a:solidFill>
            <a:srgbClr val="C82828"/>
          </a:solidFill>
          <a:ln/>
        </p:spPr>
      </p:sp>
      <p:sp>
        <p:nvSpPr>
          <p:cNvPr id="30" name="text-29"/>
          <p:cNvSpPr txBox="1"/>
          <p:nvPr/>
        </p:nvSpPr>
        <p:spPr>
          <a:xfrm>
            <a:off x="857548" y="4263182"/>
            <a:ext cx="122836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75" dirty="0">
                <a:solidFill>
                  <a:srgbClr val="F7DFD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견적금액 (VAT 포함)</a:t>
            </a:r>
            <a:endParaRPr lang="ko-KR" sz="975" dirty="0"/>
          </a:p>
        </p:txBody>
      </p:sp>
      <p:sp>
        <p:nvSpPr>
          <p:cNvPr id="31" name="text-30"/>
          <p:cNvSpPr txBox="1"/>
          <p:nvPr/>
        </p:nvSpPr>
        <p:spPr>
          <a:xfrm>
            <a:off x="3093690" y="4120307"/>
            <a:ext cx="1720882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100" b="1" spc="21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₩3,300,000</a:t>
            </a:r>
            <a:endParaRPr lang="ko-KR" sz="2100" dirty="0"/>
          </a:p>
        </p:txBody>
      </p:sp>
      <p:sp>
        <p:nvSpPr>
          <p:cNvPr id="32" name="text-31"/>
          <p:cNvSpPr txBox="1"/>
          <p:nvPr/>
        </p:nvSpPr>
        <p:spPr>
          <a:xfrm>
            <a:off x="4787950" y="4272707"/>
            <a:ext cx="202905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21" kern="0" dirty="0">
                <a:solidFill>
                  <a:srgbClr val="F4D4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공급가액 3,000,000 + 부가세 300,000</a:t>
            </a:r>
            <a:endParaRPr lang="ko-KR" sz="900" dirty="0"/>
          </a:p>
        </p:txBody>
      </p:sp>
      <p:sp>
        <p:nvSpPr>
          <p:cNvPr id="33" name="box-32"/>
          <p:cNvSpPr/>
          <p:nvPr/>
        </p:nvSpPr>
        <p:spPr>
          <a:xfrm>
            <a:off x="647998" y="4924127"/>
            <a:ext cx="394990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4" name="text-33"/>
          <p:cNvSpPr txBox="1"/>
          <p:nvPr/>
        </p:nvSpPr>
        <p:spPr>
          <a:xfrm>
            <a:off x="762298" y="5047952"/>
            <a:ext cx="21114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No</a:t>
            </a:r>
            <a:endParaRPr lang="ko-KR" sz="1013" dirty="0"/>
          </a:p>
        </p:txBody>
      </p:sp>
      <p:sp>
        <p:nvSpPr>
          <p:cNvPr id="35" name="box-34"/>
          <p:cNvSpPr/>
          <p:nvPr/>
        </p:nvSpPr>
        <p:spPr>
          <a:xfrm>
            <a:off x="1042988" y="4924127"/>
            <a:ext cx="3989933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6" name="text-35"/>
          <p:cNvSpPr txBox="1"/>
          <p:nvPr/>
        </p:nvSpPr>
        <p:spPr>
          <a:xfrm>
            <a:off x="1157288" y="5047952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</a:t>
            </a:r>
            <a:endParaRPr lang="ko-KR" sz="1013" dirty="0"/>
          </a:p>
        </p:txBody>
      </p:sp>
      <p:sp>
        <p:nvSpPr>
          <p:cNvPr id="37" name="box-36"/>
          <p:cNvSpPr/>
          <p:nvPr/>
        </p:nvSpPr>
        <p:spPr>
          <a:xfrm>
            <a:off x="5032921" y="4924127"/>
            <a:ext cx="626269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8" name="text-37"/>
          <p:cNvSpPr txBox="1"/>
          <p:nvPr/>
        </p:nvSpPr>
        <p:spPr>
          <a:xfrm>
            <a:off x="5275546" y="5047952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수량</a:t>
            </a:r>
            <a:endParaRPr lang="ko-KR" sz="1013" dirty="0"/>
          </a:p>
        </p:txBody>
      </p:sp>
      <p:sp>
        <p:nvSpPr>
          <p:cNvPr id="39" name="box-38"/>
          <p:cNvSpPr/>
          <p:nvPr/>
        </p:nvSpPr>
        <p:spPr>
          <a:xfrm>
            <a:off x="5659189" y="4924127"/>
            <a:ext cx="1252686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0" name="line-39"/>
          <p:cNvSpPr/>
          <p:nvPr/>
        </p:nvSpPr>
        <p:spPr>
          <a:xfrm>
            <a:off x="647998" y="4933652"/>
            <a:ext cx="6263878" cy="0"/>
          </a:xfrm>
          <a:prstGeom prst="line">
            <a:avLst/>
          </a:prstGeom>
          <a:noFill/>
          <a:ln w="19050">
            <a:solidFill>
              <a:srgbClr val="C82828"/>
            </a:solidFill>
            <a:prstDash val="solid"/>
          </a:ln>
        </p:spPr>
      </p:sp>
      <p:sp>
        <p:nvSpPr>
          <p:cNvPr id="41" name="text-40"/>
          <p:cNvSpPr txBox="1"/>
          <p:nvPr/>
        </p:nvSpPr>
        <p:spPr>
          <a:xfrm>
            <a:off x="6312622" y="5047952"/>
            <a:ext cx="4849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금액(원)</a:t>
            </a:r>
            <a:endParaRPr lang="ko-KR" sz="1013" dirty="0"/>
          </a:p>
        </p:txBody>
      </p:sp>
      <p:sp>
        <p:nvSpPr>
          <p:cNvPr id="42" name="text-41"/>
          <p:cNvSpPr txBox="1"/>
          <p:nvPr/>
        </p:nvSpPr>
        <p:spPr>
          <a:xfrm>
            <a:off x="762298" y="5456783"/>
            <a:ext cx="967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ko-KR" sz="1013" dirty="0"/>
          </a:p>
        </p:txBody>
      </p:sp>
      <p:sp>
        <p:nvSpPr>
          <p:cNvPr id="43" name="text-42"/>
          <p:cNvSpPr txBox="1"/>
          <p:nvPr/>
        </p:nvSpPr>
        <p:spPr>
          <a:xfrm>
            <a:off x="1157288" y="5456783"/>
            <a:ext cx="132820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및 사이트 구조 설계</a:t>
            </a:r>
            <a:endParaRPr lang="ko-KR" sz="1013" dirty="0"/>
          </a:p>
        </p:txBody>
      </p:sp>
      <p:sp>
        <p:nvSpPr>
          <p:cNvPr id="44" name="text-43"/>
          <p:cNvSpPr txBox="1"/>
          <p:nvPr/>
        </p:nvSpPr>
        <p:spPr>
          <a:xfrm>
            <a:off x="1157288" y="5675114"/>
            <a:ext cx="1686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구성, 페이지 흐름, 콘텐츠 정리</a:t>
            </a:r>
            <a:endParaRPr lang="ko-KR" sz="900" dirty="0"/>
          </a:p>
        </p:txBody>
      </p:sp>
      <p:sp>
        <p:nvSpPr>
          <p:cNvPr id="45" name="text-44"/>
          <p:cNvSpPr txBox="1"/>
          <p:nvPr/>
        </p:nvSpPr>
        <p:spPr>
          <a:xfrm>
            <a:off x="5308979" y="5456783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46" name="line-45"/>
          <p:cNvSpPr/>
          <p:nvPr/>
        </p:nvSpPr>
        <p:spPr>
          <a:xfrm>
            <a:off x="647998" y="5947470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6232600" y="5456783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400,000</a:t>
            </a:r>
            <a:endParaRPr lang="ko-KR" sz="1013" dirty="0"/>
          </a:p>
        </p:txBody>
      </p:sp>
      <p:sp>
        <p:nvSpPr>
          <p:cNvPr id="48" name="text-47"/>
          <p:cNvSpPr txBox="1"/>
          <p:nvPr/>
        </p:nvSpPr>
        <p:spPr>
          <a:xfrm>
            <a:off x="762298" y="6090345"/>
            <a:ext cx="11672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ko-KR" sz="1013" dirty="0"/>
          </a:p>
        </p:txBody>
      </p:sp>
      <p:sp>
        <p:nvSpPr>
          <p:cNvPr id="49" name="text-48"/>
          <p:cNvSpPr txBox="1"/>
          <p:nvPr/>
        </p:nvSpPr>
        <p:spPr>
          <a:xfrm>
            <a:off x="1157288" y="6090345"/>
            <a:ext cx="766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ko-KR" sz="1013" dirty="0"/>
          </a:p>
        </p:txBody>
      </p:sp>
      <p:sp>
        <p:nvSpPr>
          <p:cNvPr id="50" name="text-49"/>
          <p:cNvSpPr txBox="1"/>
          <p:nvPr/>
        </p:nvSpPr>
        <p:spPr>
          <a:xfrm>
            <a:off x="1157288" y="6308675"/>
            <a:ext cx="189176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메인·서브 페이지 디자인, 브랜드 톤 반영</a:t>
            </a:r>
            <a:endParaRPr lang="ko-KR" sz="900" dirty="0"/>
          </a:p>
        </p:txBody>
      </p:sp>
      <p:sp>
        <p:nvSpPr>
          <p:cNvPr id="51" name="text-50"/>
          <p:cNvSpPr txBox="1"/>
          <p:nvPr/>
        </p:nvSpPr>
        <p:spPr>
          <a:xfrm>
            <a:off x="5308979" y="6090345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52" name="line-51"/>
          <p:cNvSpPr/>
          <p:nvPr/>
        </p:nvSpPr>
        <p:spPr>
          <a:xfrm>
            <a:off x="647998" y="6581031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6116514" y="6090345"/>
            <a:ext cx="68106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1,000,000</a:t>
            </a:r>
            <a:endParaRPr lang="ko-KR" sz="1013" dirty="0"/>
          </a:p>
        </p:txBody>
      </p:sp>
      <p:sp>
        <p:nvSpPr>
          <p:cNvPr id="54" name="text-53"/>
          <p:cNvSpPr txBox="1"/>
          <p:nvPr/>
        </p:nvSpPr>
        <p:spPr>
          <a:xfrm>
            <a:off x="762298" y="6723906"/>
            <a:ext cx="1207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sz="1013" dirty="0"/>
          </a:p>
        </p:txBody>
      </p:sp>
      <p:sp>
        <p:nvSpPr>
          <p:cNvPr id="55" name="text-54"/>
          <p:cNvSpPr txBox="1"/>
          <p:nvPr/>
        </p:nvSpPr>
        <p:spPr>
          <a:xfrm>
            <a:off x="1157288" y="6723906"/>
            <a:ext cx="11211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제작 (아임웹)</a:t>
            </a:r>
            <a:endParaRPr lang="ko-KR" sz="1013" dirty="0"/>
          </a:p>
        </p:txBody>
      </p:sp>
      <p:sp>
        <p:nvSpPr>
          <p:cNvPr id="56" name="text-55"/>
          <p:cNvSpPr txBox="1"/>
          <p:nvPr/>
        </p:nvSpPr>
        <p:spPr>
          <a:xfrm>
            <a:off x="1157288" y="6942237"/>
            <a:ext cx="181111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PC·태블릿·모바일 대응, 인터랙션 적용</a:t>
            </a:r>
            <a:endParaRPr lang="ko-KR" sz="900" dirty="0"/>
          </a:p>
        </p:txBody>
      </p:sp>
      <p:sp>
        <p:nvSpPr>
          <p:cNvPr id="57" name="text-56"/>
          <p:cNvSpPr txBox="1"/>
          <p:nvPr/>
        </p:nvSpPr>
        <p:spPr>
          <a:xfrm>
            <a:off x="5308979" y="6723906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58" name="line-57"/>
          <p:cNvSpPr/>
          <p:nvPr/>
        </p:nvSpPr>
        <p:spPr>
          <a:xfrm>
            <a:off x="647998" y="7214592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6232600" y="6723906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</a:t>
            </a:r>
            <a:endParaRPr lang="ko-KR" sz="1013" dirty="0"/>
          </a:p>
        </p:txBody>
      </p:sp>
      <p:sp>
        <p:nvSpPr>
          <p:cNvPr id="60" name="text-59"/>
          <p:cNvSpPr txBox="1"/>
          <p:nvPr/>
        </p:nvSpPr>
        <p:spPr>
          <a:xfrm>
            <a:off x="762298" y="7357467"/>
            <a:ext cx="121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ko-KR" sz="1013" dirty="0"/>
          </a:p>
        </p:txBody>
      </p:sp>
      <p:sp>
        <p:nvSpPr>
          <p:cNvPr id="61" name="text-60"/>
          <p:cNvSpPr txBox="1"/>
          <p:nvPr/>
        </p:nvSpPr>
        <p:spPr>
          <a:xfrm>
            <a:off x="1157288" y="7357467"/>
            <a:ext cx="17089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게시판 · 문의폼 설정</a:t>
            </a:r>
            <a:endParaRPr lang="ko-KR" sz="1013" dirty="0"/>
          </a:p>
        </p:txBody>
      </p:sp>
      <p:sp>
        <p:nvSpPr>
          <p:cNvPr id="62" name="text-61"/>
          <p:cNvSpPr txBox="1"/>
          <p:nvPr/>
        </p:nvSpPr>
        <p:spPr>
          <a:xfrm>
            <a:off x="1157288" y="7575798"/>
            <a:ext cx="162631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아카이브, 상담 문의 연동</a:t>
            </a:r>
            <a:endParaRPr lang="ko-KR" sz="900" dirty="0"/>
          </a:p>
        </p:txBody>
      </p:sp>
      <p:sp>
        <p:nvSpPr>
          <p:cNvPr id="63" name="text-62"/>
          <p:cNvSpPr txBox="1"/>
          <p:nvPr/>
        </p:nvSpPr>
        <p:spPr>
          <a:xfrm>
            <a:off x="5308979" y="7357467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64" name="line-63"/>
          <p:cNvSpPr/>
          <p:nvPr/>
        </p:nvSpPr>
        <p:spPr>
          <a:xfrm>
            <a:off x="647998" y="784815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6232600" y="7357467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400,000</a:t>
            </a:r>
            <a:endParaRPr lang="ko-KR" sz="1013" dirty="0"/>
          </a:p>
        </p:txBody>
      </p:sp>
      <p:sp>
        <p:nvSpPr>
          <p:cNvPr id="66" name="text-65"/>
          <p:cNvSpPr txBox="1"/>
          <p:nvPr/>
        </p:nvSpPr>
        <p:spPr>
          <a:xfrm>
            <a:off x="762298" y="7991029"/>
            <a:ext cx="1179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ko-KR" sz="1013" dirty="0"/>
          </a:p>
        </p:txBody>
      </p:sp>
      <p:sp>
        <p:nvSpPr>
          <p:cNvPr id="67" name="text-66"/>
          <p:cNvSpPr txBox="1"/>
          <p:nvPr/>
        </p:nvSpPr>
        <p:spPr>
          <a:xfrm>
            <a:off x="1157288" y="7991029"/>
            <a:ext cx="2131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기본 설정 · 도메인 연결 · 오픈 점검</a:t>
            </a:r>
            <a:endParaRPr lang="ko-KR" sz="1013" dirty="0"/>
          </a:p>
        </p:txBody>
      </p:sp>
      <p:sp>
        <p:nvSpPr>
          <p:cNvPr id="68" name="text-67"/>
          <p:cNvSpPr txBox="1"/>
          <p:nvPr/>
        </p:nvSpPr>
        <p:spPr>
          <a:xfrm>
            <a:off x="1157288" y="8209359"/>
            <a:ext cx="149366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 정보, 크로스브라우저 검수</a:t>
            </a:r>
            <a:endParaRPr lang="ko-KR" sz="900" dirty="0"/>
          </a:p>
        </p:txBody>
      </p:sp>
      <p:sp>
        <p:nvSpPr>
          <p:cNvPr id="69" name="text-68"/>
          <p:cNvSpPr txBox="1"/>
          <p:nvPr/>
        </p:nvSpPr>
        <p:spPr>
          <a:xfrm>
            <a:off x="5308979" y="7991029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70" name="line-69"/>
          <p:cNvSpPr/>
          <p:nvPr/>
        </p:nvSpPr>
        <p:spPr>
          <a:xfrm>
            <a:off x="647998" y="8481715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6232600" y="7991029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300,000</a:t>
            </a:r>
            <a:endParaRPr lang="ko-KR" sz="1013" dirty="0"/>
          </a:p>
        </p:txBody>
      </p:sp>
      <p:sp>
        <p:nvSpPr>
          <p:cNvPr id="72" name="text-71"/>
          <p:cNvSpPr txBox="1"/>
          <p:nvPr/>
        </p:nvSpPr>
        <p:spPr>
          <a:xfrm>
            <a:off x="3142655" y="8710315"/>
            <a:ext cx="5176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공급가액</a:t>
            </a:r>
            <a:endParaRPr lang="ko-KR" sz="1050" dirty="0"/>
          </a:p>
        </p:txBody>
      </p:sp>
      <p:sp>
        <p:nvSpPr>
          <p:cNvPr id="73" name="text-72"/>
          <p:cNvSpPr txBox="1"/>
          <p:nvPr/>
        </p:nvSpPr>
        <p:spPr>
          <a:xfrm>
            <a:off x="5972877" y="8710315"/>
            <a:ext cx="8246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3,000,000원</a:t>
            </a:r>
            <a:endParaRPr lang="ko-KR" sz="1050" dirty="0"/>
          </a:p>
        </p:txBody>
      </p:sp>
      <p:sp>
        <p:nvSpPr>
          <p:cNvPr id="74" name="text-73"/>
          <p:cNvSpPr txBox="1"/>
          <p:nvPr/>
        </p:nvSpPr>
        <p:spPr>
          <a:xfrm>
            <a:off x="3142655" y="9050238"/>
            <a:ext cx="7900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부가세 (10%)</a:t>
            </a:r>
            <a:endParaRPr lang="ko-KR" sz="1050" dirty="0"/>
          </a:p>
        </p:txBody>
      </p:sp>
      <p:sp>
        <p:nvSpPr>
          <p:cNvPr id="75" name="text-74"/>
          <p:cNvSpPr txBox="1"/>
          <p:nvPr/>
        </p:nvSpPr>
        <p:spPr>
          <a:xfrm>
            <a:off x="6093143" y="9050238"/>
            <a:ext cx="70443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300,000원</a:t>
            </a:r>
            <a:endParaRPr lang="ko-KR" sz="1050" dirty="0"/>
          </a:p>
        </p:txBody>
      </p:sp>
      <p:sp>
        <p:nvSpPr>
          <p:cNvPr id="76" name="line-75"/>
          <p:cNvSpPr/>
          <p:nvPr/>
        </p:nvSpPr>
        <p:spPr>
          <a:xfrm>
            <a:off x="3028355" y="9352062"/>
            <a:ext cx="3883521" cy="0"/>
          </a:xfrm>
          <a:prstGeom prst="line">
            <a:avLst/>
          </a:prstGeom>
          <a:noFill/>
          <a:ln w="19050">
            <a:solidFill>
              <a:srgbClr val="16181D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3142655" y="9494937"/>
            <a:ext cx="31206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ko-KR" sz="1200" dirty="0"/>
          </a:p>
        </p:txBody>
      </p:sp>
      <p:sp>
        <p:nvSpPr>
          <p:cNvPr id="78" name="text-77"/>
          <p:cNvSpPr txBox="1"/>
          <p:nvPr/>
        </p:nvSpPr>
        <p:spPr>
          <a:xfrm>
            <a:off x="5807107" y="9494937"/>
            <a:ext cx="99046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200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3,300,000원</a:t>
            </a:r>
            <a:endParaRPr lang="ko-KR" sz="1200" dirty="0"/>
          </a:p>
        </p:txBody>
      </p:sp>
      <p:sp>
        <p:nvSpPr>
          <p:cNvPr id="79" name="line-78"/>
          <p:cNvSpPr/>
          <p:nvPr/>
        </p:nvSpPr>
        <p:spPr>
          <a:xfrm>
            <a:off x="647998" y="996389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647998" y="10102007"/>
            <a:ext cx="160433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 · youweb.d@gmail.com</a:t>
            </a:r>
            <a:endParaRPr lang="ko-KR" sz="900" dirty="0"/>
          </a:p>
        </p:txBody>
      </p:sp>
      <p:sp>
        <p:nvSpPr>
          <p:cNvPr id="81" name="text-80"/>
          <p:cNvSpPr txBox="1"/>
          <p:nvPr/>
        </p:nvSpPr>
        <p:spPr>
          <a:xfrm>
            <a:off x="5548229" y="10102007"/>
            <a:ext cx="13636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샘플입니다. · 1 / 2</a:t>
            </a:r>
            <a:endParaRPr lang="ko-KR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"/>
          <p:cNvSpPr/>
          <p:nvPr/>
        </p:nvSpPr>
        <p:spPr>
          <a:xfrm>
            <a:off x="6227564" y="575965"/>
            <a:ext cx="684312" cy="238571"/>
          </a:xfrm>
          <a:prstGeom prst="roundRect">
            <a:avLst>
              <a:gd name="adj" fmla="val 500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" name="text-2"/>
          <p:cNvSpPr txBox="1"/>
          <p:nvPr/>
        </p:nvSpPr>
        <p:spPr>
          <a:xfrm>
            <a:off x="6332339" y="633115"/>
            <a:ext cx="53185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25" spc="99" kern="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</a:t>
            </a:r>
            <a:endParaRPr lang="ko-KR" sz="825" dirty="0"/>
          </a:p>
        </p:txBody>
      </p:sp>
      <p:pic>
        <p:nvPicPr>
          <p:cNvPr id="4" name="img-3" descr="유웹디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75965"/>
            <a:ext cx="419100" cy="4191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1181398" y="688628"/>
            <a:ext cx="4849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75" b="1" spc="26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275" dirty="0"/>
          </a:p>
        </p:txBody>
      </p:sp>
      <p:sp>
        <p:nvSpPr>
          <p:cNvPr id="6" name="text-5"/>
          <p:cNvSpPr txBox="1"/>
          <p:nvPr/>
        </p:nvSpPr>
        <p:spPr>
          <a:xfrm>
            <a:off x="3839492" y="633115"/>
            <a:ext cx="215798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75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견적번호 YWD-SAMPLE-001 · 하루건축</a:t>
            </a:r>
            <a:endParaRPr lang="ko-KR" sz="975" dirty="0"/>
          </a:p>
        </p:txBody>
      </p:sp>
      <p:sp>
        <p:nvSpPr>
          <p:cNvPr id="7" name="text-6"/>
          <p:cNvSpPr txBox="1"/>
          <p:nvPr/>
        </p:nvSpPr>
        <p:spPr>
          <a:xfrm>
            <a:off x="647998" y="1261765"/>
            <a:ext cx="28336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25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결제 비용 안내 (웹빌더 호스팅사 직접 결제)</a:t>
            </a:r>
            <a:endParaRPr lang="ko-KR" sz="1125" dirty="0"/>
          </a:p>
        </p:txBody>
      </p:sp>
      <p:sp>
        <p:nvSpPr>
          <p:cNvPr id="8" name="text-7"/>
          <p:cNvSpPr txBox="1"/>
          <p:nvPr/>
        </p:nvSpPr>
        <p:spPr>
          <a:xfrm>
            <a:off x="647998" y="1521321"/>
            <a:ext cx="645331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비용은 제작비에 포함되어 있지 않으며, 사용하시는 웹빌더 호스팅사에 직접 결제하시는 금액입니다. 사용할 요금제를 선택해 표시</a:t>
            </a:r>
            <a:endParaRPr lang="ko-KR" sz="938" dirty="0"/>
          </a:p>
        </p:txBody>
      </p:sp>
      <p:sp>
        <p:nvSpPr>
          <p:cNvPr id="9" name="text-8"/>
          <p:cNvSpPr txBox="1"/>
          <p:nvPr/>
        </p:nvSpPr>
        <p:spPr>
          <a:xfrm>
            <a:off x="647998" y="1705868"/>
            <a:ext cx="528757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주세요.</a:t>
            </a:r>
            <a:endParaRPr lang="ko-KR" sz="938" dirty="0"/>
          </a:p>
        </p:txBody>
      </p:sp>
      <p:sp>
        <p:nvSpPr>
          <p:cNvPr id="10" name="box-9"/>
          <p:cNvSpPr/>
          <p:nvPr/>
        </p:nvSpPr>
        <p:spPr>
          <a:xfrm>
            <a:off x="647998" y="1985665"/>
            <a:ext cx="3065264" cy="1274118"/>
          </a:xfrm>
          <a:prstGeom prst="roundRect">
            <a:avLst>
              <a:gd name="adj" fmla="val 7476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11" name="box-10"/>
          <p:cNvSpPr/>
          <p:nvPr/>
        </p:nvSpPr>
        <p:spPr>
          <a:xfrm>
            <a:off x="657523" y="1995190"/>
            <a:ext cx="3046214" cy="389781"/>
          </a:xfrm>
          <a:prstGeom prst="round2SameRect">
            <a:avLst/>
          </a:prstGeom>
          <a:solidFill>
            <a:srgbClr val="FBEEEE"/>
          </a:solidFill>
          <a:ln/>
        </p:spPr>
      </p:sp>
      <p:sp>
        <p:nvSpPr>
          <p:cNvPr id="12" name="text-11"/>
          <p:cNvSpPr txBox="1"/>
          <p:nvPr/>
        </p:nvSpPr>
        <p:spPr>
          <a:xfrm>
            <a:off x="809923" y="2109490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아임웹</a:t>
            </a:r>
            <a:endParaRPr lang="ko-KR" sz="1013" dirty="0"/>
          </a:p>
        </p:txBody>
      </p:sp>
      <p:sp>
        <p:nvSpPr>
          <p:cNvPr id="13" name="check-12"/>
          <p:cNvSpPr/>
          <p:nvPr/>
        </p:nvSpPr>
        <p:spPr>
          <a:xfrm>
            <a:off x="809923" y="2517874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14" name="text-13"/>
          <p:cNvSpPr txBox="1"/>
          <p:nvPr/>
        </p:nvSpPr>
        <p:spPr>
          <a:xfrm>
            <a:off x="1067098" y="2518321"/>
            <a:ext cx="69328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Starter (월)</a:t>
            </a:r>
            <a:endParaRPr lang="ko-KR" sz="1013" dirty="0"/>
          </a:p>
        </p:txBody>
      </p:sp>
      <p:sp>
        <p:nvSpPr>
          <p:cNvPr id="15" name="text-14"/>
          <p:cNvSpPr txBox="1"/>
          <p:nvPr/>
        </p:nvSpPr>
        <p:spPr>
          <a:xfrm>
            <a:off x="2983111" y="2518321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16,000원</a:t>
            </a:r>
            <a:endParaRPr lang="ko-KR" sz="1013" dirty="0"/>
          </a:p>
        </p:txBody>
      </p:sp>
      <p:sp>
        <p:nvSpPr>
          <p:cNvPr id="16" name="line-15"/>
          <p:cNvSpPr/>
          <p:nvPr/>
        </p:nvSpPr>
        <p:spPr>
          <a:xfrm>
            <a:off x="657523" y="2817614"/>
            <a:ext cx="3046214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17" name="check-16"/>
          <p:cNvSpPr/>
          <p:nvPr/>
        </p:nvSpPr>
        <p:spPr>
          <a:xfrm>
            <a:off x="809923" y="2955280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18" name="text-17"/>
          <p:cNvSpPr txBox="1"/>
          <p:nvPr/>
        </p:nvSpPr>
        <p:spPr>
          <a:xfrm>
            <a:off x="1067098" y="2955727"/>
            <a:ext cx="4796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(월)</a:t>
            </a:r>
            <a:endParaRPr lang="ko-KR" sz="1013" dirty="0"/>
          </a:p>
        </p:txBody>
      </p:sp>
      <p:sp>
        <p:nvSpPr>
          <p:cNvPr id="19" name="text-18"/>
          <p:cNvSpPr txBox="1"/>
          <p:nvPr/>
        </p:nvSpPr>
        <p:spPr>
          <a:xfrm>
            <a:off x="2983111" y="2955727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24,000원</a:t>
            </a:r>
            <a:endParaRPr lang="ko-KR" sz="1013" dirty="0"/>
          </a:p>
        </p:txBody>
      </p:sp>
      <p:sp>
        <p:nvSpPr>
          <p:cNvPr id="20" name="box-19"/>
          <p:cNvSpPr/>
          <p:nvPr/>
        </p:nvSpPr>
        <p:spPr>
          <a:xfrm>
            <a:off x="3846612" y="1985665"/>
            <a:ext cx="3065264" cy="1274118"/>
          </a:xfrm>
          <a:prstGeom prst="roundRect">
            <a:avLst>
              <a:gd name="adj" fmla="val 7476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21" name="box-20"/>
          <p:cNvSpPr/>
          <p:nvPr/>
        </p:nvSpPr>
        <p:spPr>
          <a:xfrm>
            <a:off x="3856137" y="1995190"/>
            <a:ext cx="3046214" cy="389781"/>
          </a:xfrm>
          <a:prstGeom prst="round2SameRect">
            <a:avLst/>
          </a:prstGeom>
          <a:solidFill>
            <a:srgbClr val="FBEEEE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4008537" y="2109490"/>
            <a:ext cx="6468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식스샵 프로</a:t>
            </a:r>
            <a:endParaRPr lang="ko-KR" sz="1013" dirty="0"/>
          </a:p>
        </p:txBody>
      </p:sp>
      <p:sp>
        <p:nvSpPr>
          <p:cNvPr id="23" name="check-22"/>
          <p:cNvSpPr/>
          <p:nvPr/>
        </p:nvSpPr>
        <p:spPr>
          <a:xfrm>
            <a:off x="4008537" y="2517874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4265712" y="2518321"/>
            <a:ext cx="74080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(월)</a:t>
            </a:r>
            <a:endParaRPr lang="ko-KR" sz="1013" dirty="0"/>
          </a:p>
        </p:txBody>
      </p:sp>
      <p:sp>
        <p:nvSpPr>
          <p:cNvPr id="25" name="text-24"/>
          <p:cNvSpPr txBox="1"/>
          <p:nvPr/>
        </p:nvSpPr>
        <p:spPr>
          <a:xfrm>
            <a:off x="6181725" y="2518321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13,600원</a:t>
            </a:r>
            <a:endParaRPr lang="ko-KR" sz="1013" dirty="0"/>
          </a:p>
        </p:txBody>
      </p:sp>
      <p:sp>
        <p:nvSpPr>
          <p:cNvPr id="26" name="line-25"/>
          <p:cNvSpPr/>
          <p:nvPr/>
        </p:nvSpPr>
        <p:spPr>
          <a:xfrm>
            <a:off x="3856137" y="2817614"/>
            <a:ext cx="3046214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27" name="check-26"/>
          <p:cNvSpPr/>
          <p:nvPr/>
        </p:nvSpPr>
        <p:spPr>
          <a:xfrm>
            <a:off x="4008537" y="2955280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4265712" y="2955727"/>
            <a:ext cx="6251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쇼핑몰 (월)</a:t>
            </a:r>
            <a:endParaRPr lang="ko-KR" sz="1013" dirty="0"/>
          </a:p>
        </p:txBody>
      </p:sp>
      <p:sp>
        <p:nvSpPr>
          <p:cNvPr id="29" name="text-28"/>
          <p:cNvSpPr txBox="1"/>
          <p:nvPr/>
        </p:nvSpPr>
        <p:spPr>
          <a:xfrm>
            <a:off x="6181725" y="2955727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30,000원</a:t>
            </a:r>
            <a:endParaRPr lang="ko-KR" sz="1013" dirty="0"/>
          </a:p>
        </p:txBody>
      </p:sp>
      <p:sp>
        <p:nvSpPr>
          <p:cNvPr id="30" name="box-29"/>
          <p:cNvSpPr/>
          <p:nvPr/>
        </p:nvSpPr>
        <p:spPr>
          <a:xfrm>
            <a:off x="647998" y="3393132"/>
            <a:ext cx="6263878" cy="1245543"/>
          </a:xfrm>
          <a:prstGeom prst="roundRect">
            <a:avLst>
              <a:gd name="adj" fmla="val 7647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1" name="box-30"/>
          <p:cNvSpPr/>
          <p:nvPr/>
        </p:nvSpPr>
        <p:spPr>
          <a:xfrm>
            <a:off x="657523" y="3402657"/>
            <a:ext cx="6244828" cy="399306"/>
          </a:xfrm>
          <a:prstGeom prst="round2SameRect">
            <a:avLst/>
          </a:prstGeom>
          <a:solidFill>
            <a:srgbClr val="F6F7F9"/>
          </a:solidFill>
          <a:ln/>
        </p:spPr>
      </p:sp>
      <p:sp>
        <p:nvSpPr>
          <p:cNvPr id="32" name="line-31"/>
          <p:cNvSpPr/>
          <p:nvPr/>
        </p:nvSpPr>
        <p:spPr>
          <a:xfrm>
            <a:off x="657523" y="3797201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09923" y="3516957"/>
            <a:ext cx="53123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비용</a:t>
            </a:r>
            <a:endParaRPr lang="ko-KR" sz="1013" dirty="0"/>
          </a:p>
        </p:txBody>
      </p:sp>
      <p:sp>
        <p:nvSpPr>
          <p:cNvPr id="34" name="text-33"/>
          <p:cNvSpPr txBox="1"/>
          <p:nvPr/>
        </p:nvSpPr>
        <p:spPr>
          <a:xfrm>
            <a:off x="809923" y="3925788"/>
            <a:ext cx="88986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도메인 (연)</a:t>
            </a:r>
            <a:endParaRPr lang="ko-KR" sz="1013" dirty="0"/>
          </a:p>
        </p:txBody>
      </p:sp>
      <p:sp>
        <p:nvSpPr>
          <p:cNvPr id="35" name="text-34"/>
          <p:cNvSpPr txBox="1"/>
          <p:nvPr/>
        </p:nvSpPr>
        <p:spPr>
          <a:xfrm>
            <a:off x="5974628" y="3925788"/>
            <a:ext cx="775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20,000원</a:t>
            </a:r>
            <a:endParaRPr lang="ko-KR" sz="1013" dirty="0"/>
          </a:p>
        </p:txBody>
      </p:sp>
      <p:sp>
        <p:nvSpPr>
          <p:cNvPr id="36" name="line-35"/>
          <p:cNvSpPr/>
          <p:nvPr/>
        </p:nvSpPr>
        <p:spPr>
          <a:xfrm>
            <a:off x="657523" y="4215557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37" name="text-36"/>
          <p:cNvSpPr txBox="1"/>
          <p:nvPr/>
        </p:nvSpPr>
        <p:spPr>
          <a:xfrm>
            <a:off x="809923" y="4344144"/>
            <a:ext cx="104170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SSL 보안 서버 (연)</a:t>
            </a:r>
            <a:endParaRPr lang="ko-KR" sz="1013" dirty="0"/>
          </a:p>
        </p:txBody>
      </p:sp>
      <p:sp>
        <p:nvSpPr>
          <p:cNvPr id="38" name="text-37"/>
          <p:cNvSpPr txBox="1"/>
          <p:nvPr/>
        </p:nvSpPr>
        <p:spPr>
          <a:xfrm>
            <a:off x="5974628" y="4344144"/>
            <a:ext cx="775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36,000원</a:t>
            </a:r>
            <a:endParaRPr lang="ko-KR" sz="1013" dirty="0"/>
          </a:p>
        </p:txBody>
      </p:sp>
      <p:sp>
        <p:nvSpPr>
          <p:cNvPr id="39" name="text-38"/>
          <p:cNvSpPr txBox="1"/>
          <p:nvPr/>
        </p:nvSpPr>
        <p:spPr>
          <a:xfrm>
            <a:off x="647998" y="4752975"/>
            <a:ext cx="415605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안내용 기준이며, 호스팅사 정책·결제 주기·도메인 종류에 따라 달라질 수 있습니다.</a:t>
            </a:r>
            <a:endParaRPr lang="ko-KR" sz="900" dirty="0"/>
          </a:p>
        </p:txBody>
      </p:sp>
      <p:sp>
        <p:nvSpPr>
          <p:cNvPr id="40" name="text-39"/>
          <p:cNvSpPr txBox="1"/>
          <p:nvPr/>
        </p:nvSpPr>
        <p:spPr>
          <a:xfrm>
            <a:off x="647998" y="5311080"/>
            <a:ext cx="26748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90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ko-KR" sz="900" dirty="0"/>
          </a:p>
        </p:txBody>
      </p:sp>
      <p:sp>
        <p:nvSpPr>
          <p:cNvPr id="41" name="dot-40"/>
          <p:cNvSpPr/>
          <p:nvPr/>
        </p:nvSpPr>
        <p:spPr>
          <a:xfrm>
            <a:off x="688479" y="5595342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42" name="text-41"/>
          <p:cNvSpPr txBox="1"/>
          <p:nvPr/>
        </p:nvSpPr>
        <p:spPr>
          <a:xfrm>
            <a:off x="819448" y="5545336"/>
            <a:ext cx="49733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금액은</a:t>
            </a:r>
            <a:endParaRPr lang="ko-KR" sz="938" dirty="0"/>
          </a:p>
        </p:txBody>
      </p:sp>
      <p:sp>
        <p:nvSpPr>
          <p:cNvPr id="43" name="text-42"/>
          <p:cNvSpPr txBox="1"/>
          <p:nvPr/>
        </p:nvSpPr>
        <p:spPr>
          <a:xfrm>
            <a:off x="1290935" y="5545336"/>
            <a:ext cx="601813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b="1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부가세 별도</a:t>
            </a:r>
            <a:endParaRPr lang="ko-KR" sz="938" dirty="0"/>
          </a:p>
        </p:txBody>
      </p:sp>
      <p:sp>
        <p:nvSpPr>
          <p:cNvPr id="44" name="text-43"/>
          <p:cNvSpPr txBox="1"/>
          <p:nvPr/>
        </p:nvSpPr>
        <p:spPr>
          <a:xfrm>
            <a:off x="1862733" y="5545336"/>
            <a:ext cx="288437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금액이며, 부가세 10%를 더한 합계는 3,300,000원입니다.</a:t>
            </a:r>
            <a:endParaRPr lang="ko-KR" sz="938" dirty="0"/>
          </a:p>
        </p:txBody>
      </p:sp>
      <p:sp>
        <p:nvSpPr>
          <p:cNvPr id="45" name="dot-44"/>
          <p:cNvSpPr/>
          <p:nvPr/>
        </p:nvSpPr>
        <p:spPr>
          <a:xfrm>
            <a:off x="688479" y="5798939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46" name="text-45"/>
          <p:cNvSpPr txBox="1"/>
          <p:nvPr/>
        </p:nvSpPr>
        <p:spPr>
          <a:xfrm>
            <a:off x="819448" y="5748933"/>
            <a:ext cx="217439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조건: 계약 시 50%, 오픈 시 잔금 50%.</a:t>
            </a:r>
            <a:endParaRPr lang="ko-KR" sz="938" dirty="0"/>
          </a:p>
        </p:txBody>
      </p:sp>
      <p:sp>
        <p:nvSpPr>
          <p:cNvPr id="47" name="dot-46"/>
          <p:cNvSpPr/>
          <p:nvPr/>
        </p:nvSpPr>
        <p:spPr>
          <a:xfrm>
            <a:off x="688479" y="6002536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48" name="text-47"/>
          <p:cNvSpPr txBox="1"/>
          <p:nvPr/>
        </p:nvSpPr>
        <p:spPr>
          <a:xfrm>
            <a:off x="819448" y="5952530"/>
            <a:ext cx="531923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기간: 계약 및 자료 수령 후 약 3주. 웹빌더 호스팅·도메인·SSL 비용은 제작비와 별도입니다(위 안내 참조).</a:t>
            </a:r>
            <a:endParaRPr lang="ko-KR" sz="938" dirty="0"/>
          </a:p>
        </p:txBody>
      </p:sp>
      <p:sp>
        <p:nvSpPr>
          <p:cNvPr id="49" name="dot-48"/>
          <p:cNvSpPr/>
          <p:nvPr/>
        </p:nvSpPr>
        <p:spPr>
          <a:xfrm>
            <a:off x="688479" y="6206133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50" name="text-49"/>
          <p:cNvSpPr txBox="1"/>
          <p:nvPr/>
        </p:nvSpPr>
        <p:spPr>
          <a:xfrm>
            <a:off x="819448" y="6156127"/>
            <a:ext cx="197890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수정은 시안 단계별 2회까지 포함합니다.</a:t>
            </a:r>
            <a:endParaRPr lang="ko-KR" sz="938" dirty="0"/>
          </a:p>
        </p:txBody>
      </p:sp>
      <p:sp>
        <p:nvSpPr>
          <p:cNvPr id="51" name="line-50"/>
          <p:cNvSpPr/>
          <p:nvPr/>
        </p:nvSpPr>
        <p:spPr>
          <a:xfrm>
            <a:off x="647998" y="996389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2" name="text-51"/>
          <p:cNvSpPr txBox="1"/>
          <p:nvPr/>
        </p:nvSpPr>
        <p:spPr>
          <a:xfrm>
            <a:off x="647998" y="10102007"/>
            <a:ext cx="160433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 · youweb.d@gmail.com</a:t>
            </a:r>
            <a:endParaRPr lang="ko-KR" sz="900" dirty="0"/>
          </a:p>
        </p:txBody>
      </p:sp>
      <p:sp>
        <p:nvSpPr>
          <p:cNvPr id="53" name="text-52"/>
          <p:cNvSpPr txBox="1"/>
          <p:nvPr/>
        </p:nvSpPr>
        <p:spPr>
          <a:xfrm>
            <a:off x="5530584" y="10102007"/>
            <a:ext cx="138129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샘플입니다. · 2 / 2</a:t>
            </a:r>
            <a:endParaRPr lang="ko-K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하루건축 견적서 (샘플)</dc:title>
  <dc:subject>PptxGenJS Presentation</dc:subject>
  <dc:creator>유웹디</dc:creator>
  <cp:lastModifiedBy>유웹디</cp:lastModifiedBy>
  <cp:revision>1</cp:revision>
  <dcterms:created xsi:type="dcterms:W3CDTF">2026-10-08T01:33:38Z</dcterms:created>
  <dcterms:modified xsi:type="dcterms:W3CDTF">2026-10-08T01:33:38Z</dcterms:modified>
</cp:coreProperties>
</file>