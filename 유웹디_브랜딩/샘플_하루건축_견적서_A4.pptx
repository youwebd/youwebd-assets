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985" cy="10691988"/>
  <p:notesSz cx="10691988" cy="755998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유웹디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5568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유웹디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6144768" y="53035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44768" y="5303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9875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8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 적 서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제작 견적 · 견적번호 YWD-SAMPLE-001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10512"/>
            <a:ext cx="3154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" y="188366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2112264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481328" y="2112264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하루건축 귀하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2304288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2304288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하루건축 홈페이지 제작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94944" y="249631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견적일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481328" y="2496312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10월 8일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94944" y="2688336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유효기간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481328" y="2688336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견적일로부터 14일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58768" y="1810512"/>
            <a:ext cx="3154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05072" y="188366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공급자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005072" y="2112264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791456" y="2112264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유웹디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005072" y="2304288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791456" y="2304288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장영주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005072" y="2496312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791456" y="2496312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youweb.d@gmail.com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005072" y="2688336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사업자번호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791456" y="2688336"/>
            <a:ext cx="2103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000-00-00000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3008376"/>
            <a:ext cx="6464808" cy="530352"/>
          </a:xfrm>
          <a:prstGeom prst="rect">
            <a:avLst/>
          </a:prstGeom>
          <a:solidFill>
            <a:srgbClr val="C82828"/>
          </a:solidFill>
          <a:ln w="6350">
            <a:solidFill>
              <a:srgbClr val="C8282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0083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견적금액 (VAT 포함)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2468880" y="3008376"/>
            <a:ext cx="4361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₩3,300,000</a:t>
            </a:r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공급가액 3,000,000 + 부가세 300,000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85032"/>
          <a:ext cx="6464808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995928"/>
                <a:gridCol w="73152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828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C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828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C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28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C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28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금액(원)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C8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 및 사이트 구조 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2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 구성, 페이지 흐름, 콘텐츠 정리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UI/UX 디자인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2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메인·서브 페이지 디자인, 브랜드 톤 반영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반응형 제작 (아임웹)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2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PC·태블릿·모바일 대응, 인터랙션 적용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포트폴리오 게시판 · 문의폼 설정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2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아카이브, 상담 문의 연동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SEO 기본 설정 · 도메인 연결 · 오픈 점검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2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메타 정보, 크로스브라우저 검수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8"/>
          <p:cNvSpPr txBox="1"/>
          <p:nvPr/>
        </p:nvSpPr>
        <p:spPr>
          <a:xfrm>
            <a:off x="4087368" y="58613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공급가액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5458968" y="58613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3,000,000원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4087368" y="60990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부가세 (10%)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5458968" y="60990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300,000원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3995928" y="6373368"/>
            <a:ext cx="3017520" cy="0"/>
          </a:xfrm>
          <a:prstGeom prst="line">
            <a:avLst/>
          </a:prstGeom>
          <a:noFill/>
          <a:ln w="19050">
            <a:solidFill>
              <a:srgbClr val="16181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087368" y="64099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5458968" y="64099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3,300,000원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548640" y="6684264"/>
            <a:ext cx="6464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결제 비용 안내 (웹빌더 호스팅사 직접 결제)</a:t>
            </a:r>
            <a:endParaRPr lang="en-US" sz="1150" dirty="0"/>
          </a:p>
        </p:txBody>
      </p:sp>
      <p:sp>
        <p:nvSpPr>
          <p:cNvPr id="40" name="Text 36"/>
          <p:cNvSpPr txBox="1"/>
          <p:nvPr/>
        </p:nvSpPr>
        <p:spPr>
          <a:xfrm>
            <a:off x="548640" y="6922008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비용은 제작비에 포함되어 있지 않으며, 사용하시는 웹빌더 호스팅사에 직접 결제하시는 금액입니다. 사용할 요금제를 선택해 표시해 주세요.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548640" y="7232904"/>
            <a:ext cx="3154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48640" y="7232904"/>
            <a:ext cx="3154680" cy="256032"/>
          </a:xfrm>
          <a:prstGeom prst="rect">
            <a:avLst/>
          </a:prstGeom>
          <a:solidFill>
            <a:srgbClr val="FBEEEE"/>
          </a:solidFill>
          <a:ln w="6350">
            <a:solidFill>
              <a:srgbClr val="FBEEEE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94944" y="72329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아임웹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694944" y="7562088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5B627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32688" y="7488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Starter (월)</a:t>
            </a:r>
            <a:endParaRPr lang="en-US" sz="1050" dirty="0"/>
          </a:p>
        </p:txBody>
      </p:sp>
      <p:sp>
        <p:nvSpPr>
          <p:cNvPr id="46" name="Text 42"/>
          <p:cNvSpPr txBox="1"/>
          <p:nvPr/>
        </p:nvSpPr>
        <p:spPr>
          <a:xfrm>
            <a:off x="2514600" y="748893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16,000원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548640" y="7744968"/>
            <a:ext cx="3154680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94944" y="7818120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5B627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932688" y="7744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(월)</a:t>
            </a:r>
            <a:endParaRPr lang="en-US" sz="1050" dirty="0"/>
          </a:p>
        </p:txBody>
      </p:sp>
      <p:sp>
        <p:nvSpPr>
          <p:cNvPr id="50" name="Text 46"/>
          <p:cNvSpPr txBox="1"/>
          <p:nvPr/>
        </p:nvSpPr>
        <p:spPr>
          <a:xfrm>
            <a:off x="2514600" y="774496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24,000원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3858768" y="7232904"/>
            <a:ext cx="31546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858768" y="7232904"/>
            <a:ext cx="3154680" cy="256032"/>
          </a:xfrm>
          <a:prstGeom prst="rect">
            <a:avLst/>
          </a:prstGeom>
          <a:solidFill>
            <a:srgbClr val="FBEEEE"/>
          </a:solidFill>
          <a:ln w="6350">
            <a:solidFill>
              <a:srgbClr val="FBEEEE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005072" y="72329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식스샵 프로</a:t>
            </a:r>
            <a:endParaRPr lang="en-US" sz="1050" dirty="0"/>
          </a:p>
        </p:txBody>
      </p:sp>
      <p:sp>
        <p:nvSpPr>
          <p:cNvPr id="54" name="Shape 50"/>
          <p:cNvSpPr/>
          <p:nvPr/>
        </p:nvSpPr>
        <p:spPr>
          <a:xfrm>
            <a:off x="4005072" y="7562088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5B627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4242816" y="7488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(월)</a:t>
            </a:r>
            <a:endParaRPr lang="en-US" sz="1050" dirty="0"/>
          </a:p>
        </p:txBody>
      </p:sp>
      <p:sp>
        <p:nvSpPr>
          <p:cNvPr id="56" name="Text 52"/>
          <p:cNvSpPr txBox="1"/>
          <p:nvPr/>
        </p:nvSpPr>
        <p:spPr>
          <a:xfrm>
            <a:off x="5824728" y="748893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13,600원</a:t>
            </a:r>
            <a:endParaRPr lang="en-US" sz="1050" dirty="0"/>
          </a:p>
        </p:txBody>
      </p:sp>
      <p:sp>
        <p:nvSpPr>
          <p:cNvPr id="57" name="Shape 53"/>
          <p:cNvSpPr/>
          <p:nvPr/>
        </p:nvSpPr>
        <p:spPr>
          <a:xfrm>
            <a:off x="3858768" y="7744968"/>
            <a:ext cx="3154680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4005072" y="7818120"/>
            <a:ext cx="128016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5B6270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4242816" y="7744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 (월)</a:t>
            </a:r>
            <a:endParaRPr lang="en-US" sz="1050" dirty="0"/>
          </a:p>
        </p:txBody>
      </p:sp>
      <p:sp>
        <p:nvSpPr>
          <p:cNvPr id="60" name="Text 56"/>
          <p:cNvSpPr txBox="1"/>
          <p:nvPr/>
        </p:nvSpPr>
        <p:spPr>
          <a:xfrm>
            <a:off x="5824728" y="774496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30,000원</a:t>
            </a:r>
            <a:endParaRPr lang="en-US" sz="1050" dirty="0"/>
          </a:p>
        </p:txBody>
      </p:sp>
      <p:sp>
        <p:nvSpPr>
          <p:cNvPr id="61" name="Shape 57"/>
          <p:cNvSpPr/>
          <p:nvPr/>
        </p:nvSpPr>
        <p:spPr>
          <a:xfrm>
            <a:off x="548640" y="8092440"/>
            <a:ext cx="646480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548640" y="8092440"/>
            <a:ext cx="6464808" cy="256032"/>
          </a:xfrm>
          <a:prstGeom prst="rect">
            <a:avLst/>
          </a:prstGeom>
          <a:solidFill>
            <a:srgbClr val="F6F7F9"/>
          </a:solidFill>
          <a:ln w="6350">
            <a:solidFill>
              <a:srgbClr val="F6F7F9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694944" y="8092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비용</a:t>
            </a:r>
            <a:endParaRPr lang="en-US" sz="1050" dirty="0"/>
          </a:p>
        </p:txBody>
      </p:sp>
      <p:sp>
        <p:nvSpPr>
          <p:cNvPr id="64" name="Shape 60"/>
          <p:cNvSpPr/>
          <p:nvPr/>
        </p:nvSpPr>
        <p:spPr>
          <a:xfrm>
            <a:off x="548640" y="8348472"/>
            <a:ext cx="6464808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694944" y="8348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도메인 (연)</a:t>
            </a:r>
            <a:endParaRPr lang="en-US" sz="1050" dirty="0"/>
          </a:p>
        </p:txBody>
      </p:sp>
      <p:sp>
        <p:nvSpPr>
          <p:cNvPr id="66" name="Text 62"/>
          <p:cNvSpPr txBox="1"/>
          <p:nvPr/>
        </p:nvSpPr>
        <p:spPr>
          <a:xfrm>
            <a:off x="5276088" y="834847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20,000원</a:t>
            </a:r>
            <a:endParaRPr lang="en-US" sz="1050" dirty="0"/>
          </a:p>
        </p:txBody>
      </p:sp>
      <p:sp>
        <p:nvSpPr>
          <p:cNvPr id="67" name="Shape 63"/>
          <p:cNvSpPr/>
          <p:nvPr/>
        </p:nvSpPr>
        <p:spPr>
          <a:xfrm>
            <a:off x="548640" y="8586216"/>
            <a:ext cx="6464808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694944" y="85862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SSL 보안 서버 (연)</a:t>
            </a:r>
            <a:endParaRPr lang="en-US" sz="1050" dirty="0"/>
          </a:p>
        </p:txBody>
      </p:sp>
      <p:sp>
        <p:nvSpPr>
          <p:cNvPr id="69" name="Text 65"/>
          <p:cNvSpPr txBox="1"/>
          <p:nvPr/>
        </p:nvSpPr>
        <p:spPr>
          <a:xfrm>
            <a:off x="5276088" y="8586216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36,000원</a:t>
            </a:r>
            <a:endParaRPr lang="en-US" sz="1050" dirty="0"/>
          </a:p>
        </p:txBody>
      </p:sp>
      <p:sp>
        <p:nvSpPr>
          <p:cNvPr id="70" name="Text 66"/>
          <p:cNvSpPr txBox="1"/>
          <p:nvPr/>
        </p:nvSpPr>
        <p:spPr>
          <a:xfrm>
            <a:off x="548640" y="8860536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금액은 안내용 기준이며, 호스팅사 정책·결제 주기·도메인 종류에 따라 달라질 수 있습니다.</a:t>
            </a:r>
            <a:endParaRPr lang="en-US" sz="900" dirty="0"/>
          </a:p>
        </p:txBody>
      </p:sp>
      <p:sp>
        <p:nvSpPr>
          <p:cNvPr id="71" name="Text 67"/>
          <p:cNvSpPr txBox="1"/>
          <p:nvPr/>
        </p:nvSpPr>
        <p:spPr>
          <a:xfrm>
            <a:off x="548640" y="9134856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000" dirty="0"/>
          </a:p>
        </p:txBody>
      </p:sp>
      <p:sp>
        <p:nvSpPr>
          <p:cNvPr id="72" name="Text 68"/>
          <p:cNvSpPr txBox="1"/>
          <p:nvPr/>
        </p:nvSpPr>
        <p:spPr>
          <a:xfrm>
            <a:off x="548640" y="9336024"/>
            <a:ext cx="6464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금액은 부가세 별도 금액이며, 부가세 10%를 더한 합계는 3,300,000원입니다.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조건: 계약 시 50%, 오픈 시 잔금 50%.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기간: 계약 및 자료 수령 후 약 3주. 웹빌더 호스팅·도메인·SSL 비용은 제작비와 별도입니다(위 안내 참조).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수정은 시안 단계별 2회까지 포함합니다.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548640" y="9976104"/>
            <a:ext cx="6464808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548640" y="10030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유웹디 · youweb.d@gmail.com</a:t>
            </a:r>
            <a:endParaRPr lang="en-US" sz="900" dirty="0"/>
          </a:p>
        </p:txBody>
      </p:sp>
      <p:sp>
        <p:nvSpPr>
          <p:cNvPr id="75" name="Text 71"/>
          <p:cNvSpPr txBox="1"/>
          <p:nvPr/>
        </p:nvSpPr>
        <p:spPr>
          <a:xfrm>
            <a:off x="4270248" y="10030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문서는 샘플입니다.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하루건축 견적서 (샘플)</dc:title>
  <dc:subject>PptxGenJS Presentation</dc:subject>
  <dc:creator>유웹디</dc:creator>
  <cp:lastModifiedBy>유웹디</cp:lastModifiedBy>
  <cp:revision>1</cp:revision>
  <dcterms:created xsi:type="dcterms:W3CDTF">2026-10-08T01:24:08Z</dcterms:created>
  <dcterms:modified xsi:type="dcterms:W3CDTF">2026-10-08T01:24:08Z</dcterms:modified>
</cp:coreProperties>
</file>